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8BC5D3-BAE0-AD27-1BC4-F0894B4BA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привлечение аудитории 50+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B51D63-D328-8BA1-6AD2-1BB4A33CE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81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15D44-A4A3-1669-FE63-362C8D6F2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704461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взаимодействия поколения 50+ с цифровыми сервисами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7FEF0F-8CCE-88B4-13E9-8F888265A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211528"/>
            <a:ext cx="8534400" cy="3615267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50+ ориентируются на проверенные продукты и предпочитают офлайн-каналы. Их доверие к онлайн-сервисам невысоко, и они редко пользуются подписками, постепенно адаптируясь к мессенджерам, но с трудом воспринимают цифровые интерфейсы.</a:t>
            </a:r>
          </a:p>
          <a:p>
            <a:pPr marL="0" indent="0">
              <a:buNone/>
            </a:pPr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986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C543D-4497-2F0C-34B1-DA0F2A525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843901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dirty="0"/>
              <a:t>Потребительское поведение аудитории 50+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C4E2FC-6848-6670-A646-943339859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246037"/>
            <a:ext cx="8534400" cy="3615267"/>
          </a:xfrm>
        </p:spPr>
        <p:txBody>
          <a:bodyPr>
            <a:normAutofit/>
          </a:bodyPr>
          <a:lstStyle/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Они чаще покупают одни и те же продукты</a:t>
            </a: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Не умеют пользоваться цифровыми сервисами или не доверяют им</a:t>
            </a: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Смотрят на качество продуктов</a:t>
            </a: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Не пользуются подписками на цифровые сервисы</a:t>
            </a: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Предпочитают пользоваться офлайн-сервисами</a:t>
            </a: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6. Не доверяют онлайн-оплате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Чаще всего такая аудитория не пользуется цифровыми сервисами из-за их сложности. Для них многие интерфейсы непонятны. При этом они пользуются мессенджерами и постепенно адаптируются к цифровым сервисам.</a:t>
            </a:r>
          </a:p>
          <a:p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08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3B884-511C-3471-6A13-9255D9D8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Основные проблемы при подключении</a:t>
            </a:r>
            <a:br>
              <a:rPr lang="ru-RU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20DCA8-7B12-F3BB-E6E2-FF0B88778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192867"/>
            <a:ext cx="8534400" cy="3615267"/>
          </a:xfrm>
        </p:spPr>
        <p:txBody>
          <a:bodyPr>
            <a:normAutofit/>
          </a:bodyPr>
          <a:lstStyle/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Во-первых, сам процесс подключения выглядит перегруженным. Нужно зарегистрироваться, разобраться с </a:t>
            </a: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 </a:t>
            </a: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ID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выбрать тариф и оплатить. Для молодого пользователя это нормально, но для человека постарше это может показаться сложным и лишним.</a:t>
            </a: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Во-вторых, система бонусов не очень очевидная. Пересчёт баллов, срок их сгорания — всё это требует дополнительного понимания. Для многих это выглядит как что-то запутанное, и из-за этого пропадает желание разбираться.</a:t>
            </a: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В-третьих, для многих подписка — непонятная вещь. Такая аудитория воспринимает, что каждый месяц с них будут списывать деньги, при этом взамен особо ничего получать не будут. Им понятнее схема: пришёл, купил продукты с бонусной картой, получил выгоду. С подпиской же вводятся дополнительные этапы: оформление подписки, выбор любимых категорий и необходимость каждый раз смотреть свои бонусы в приложении.</a:t>
            </a:r>
          </a:p>
        </p:txBody>
      </p:sp>
    </p:spTree>
    <p:extLst>
      <p:ext uri="{BB962C8B-B14F-4D97-AF65-F5344CB8AC3E}">
        <p14:creationId xmlns:p14="http://schemas.microsoft.com/office/powerpoint/2010/main" val="348066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B97E7-7DC4-22E3-27E0-70B6421F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797767"/>
          </a:xfrm>
        </p:spPr>
        <p:txBody>
          <a:bodyPr>
            <a:no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Практика конкурентов</a:t>
            </a:r>
            <a:br>
              <a:rPr lang="ru-RU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C7CAC0-92C9-246B-ED80-05CC8668C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418254"/>
            <a:ext cx="8534400" cy="4459688"/>
          </a:xfrm>
        </p:spPr>
        <p:txBody>
          <a:bodyPr>
            <a:normAutofit/>
          </a:bodyPr>
          <a:lstStyle/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 посмотреть на конкурентов, то видно, что они решают эту проблему за счёт максимальной простоты и понятной выгоды. Чаще всего используются обычные программы лояльности с прямыми скидками или кешбэком в рублях, без сложных бонусных систем. Это важно, потому что старшему поколению проще воспринимать конкретную экономию, чем разбираться в баллах и условиях.</a:t>
            </a:r>
            <a:r>
              <a:rPr lang="ru-RU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Также большое значение имеет возможность подключиться офлайн — прямо в магазине с помощью сотрудников. Это снижает барьер входа и делает сервис более доступным. Кроме того, многие ритейлеры делают специальные предложения для старшей аудитории, например скидки для пенсионеров или упрощённые условия участия. Это повышает доверие и </a:t>
            </a:r>
            <a:r>
              <a:rPr lang="ru-RU" sz="1800" dirty="0" err="1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лояльность.В</a:t>
            </a:r>
            <a:r>
              <a:rPr lang="ru-RU" sz="1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целом, успешные практики конкурентов показывают, что для привлечения аудитории 50+ ключевыми являются простота, прозрачность и удобство использования сервиса.</a:t>
            </a:r>
            <a:endParaRPr lang="ru-RU" sz="18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76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38F9B-5B54-1EA5-D8A6-40BEBC3A4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1"/>
            <a:ext cx="8534400" cy="601824"/>
          </a:xfrm>
        </p:spPr>
        <p:txBody>
          <a:bodyPr>
            <a:normAutofit fontScale="90000"/>
          </a:bodyPr>
          <a:lstStyle/>
          <a:p>
            <a:r>
              <a:rPr lang="ru-RU" sz="3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Решения</a:t>
            </a:r>
            <a:br>
              <a:rPr lang="ru-RU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82641E-4542-559F-2392-4226534A8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73021"/>
            <a:ext cx="8534400" cy="4735114"/>
          </a:xfrm>
        </p:spPr>
        <p:txBody>
          <a:bodyPr/>
          <a:lstStyle/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Можно сделать подключение на кассе, как раньше было с бонусными картами. Чтобы не пользоваться мобильным приложением, можно сделать регистрацию через номер телефона.</a:t>
            </a:r>
            <a:endParaRPr lang="ru-RU" sz="18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Ввести специальный тариф для старшей аудитории. Можно сделать скидки на продукты, которые чаще всего покупает такая аудитория (например, хлеб, продукты питания, молочные продукты и т.п.).</a:t>
            </a:r>
            <a:endParaRPr lang="ru-RU" sz="18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Для старшей аудитории можно ввести не подписочный план, а накопительные скидки: чем больше потратил, тем больше скидка.</a:t>
            </a:r>
            <a:endParaRPr lang="ru-RU" sz="18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Можно ввести акции в магазинах по помощи подключению к сервису «Пакет». Например, нанять людей, которые в офлайне будут помогать подключить сервис.</a:t>
            </a:r>
            <a:endParaRPr lang="ru-RU" sz="18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828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46519D7-A55D-3F79-9301-320B2AB8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10547"/>
            <a:ext cx="8534400" cy="6008914"/>
          </a:xfrm>
        </p:spPr>
        <p:txBody>
          <a:bodyPr>
            <a:noAutofit/>
          </a:bodyPr>
          <a:lstStyle/>
          <a:p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6. Подписка по постоплате</a:t>
            </a:r>
          </a:p>
          <a:p>
            <a:pPr indent="180340"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Суть:</a:t>
            </a: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Старшее поколение не платит за подписку авансом и не привязывает банковскую карту. Они оплачивают стоимость «Пакета»</a:t>
            </a: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 в конце месяца и только из тех баллов, которые эта подписка им вернула.</a:t>
            </a:r>
          </a:p>
          <a:p>
            <a:pPr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 это работает на практике:</a:t>
            </a:r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Подключение без денег: На кассе кассир предлагает: «Хотите включить Пакет? Сегодня бесплатно. В конце месяца мы спишем его стоимость (120 руб.) только из тех баллов, которые вы накопите. Свои деньги вы не платите вообще». Человек просто соглашается, прикладывая обычную карту магазина (Х5 Клуб).</a:t>
            </a:r>
          </a:p>
          <a:p>
            <a:pPr marL="0" lvl="0" indent="0">
              <a:lnSpc>
                <a:spcPct val="115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Прозрачное накоплении: Весь месяц пенсионер ходит в магазин. На каждом чеке крупно печатается: «За месяц Пакет уже сэкономил вам 400 рублей».</a:t>
            </a:r>
          </a:p>
          <a:p>
            <a:pPr marL="0" lvl="0" indent="0">
              <a:lnSpc>
                <a:spcPct val="115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ru-RU" sz="1400" dirty="0" err="1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Бесрисковый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расчет в конце месяца: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 человек накопил скидками, например, 400 рублей балами — система автоматически забирает 120 рублей в счет оплаты подписки за прошлый месяц. Остальные 280 рублей остаются человеку на покупки. Подписка продлевается.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Важный момент: Если пенсионер уезжал на дачу/болел и накопил за месяц всего 50 рублей скидки (меньше стоимости подписки) — он ничего не должен. Система обнуляет эти 50 рублей в счет подписки, долг не вешается, подписка просто отключается. Никаких скрытых списаний с банковской карты (ее просто нет в системе).</a:t>
            </a:r>
          </a:p>
          <a:p>
            <a:pPr marL="0" indent="0">
              <a:buNone/>
            </a:pPr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99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5D6BF0A-F1D9-8961-5793-EFBE44BDA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5341776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7. </a:t>
            </a:r>
            <a:r>
              <a:rPr lang="ru-RU" sz="1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Гарантия возврата</a:t>
            </a:r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суть: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Если человек купил подписку за 120 рублей в месяц, но за месяц сэкономил с ней (получил баллами) меньше этих 120 рублей, то магазин </a:t>
            </a:r>
            <a:r>
              <a:rPr lang="ru-RU" sz="1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автоматически возвращает ему стоимость подписки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на карту лояльности в виде баллов.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8.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Разовый Пакет</a:t>
            </a:r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Суть:</a:t>
            </a: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 вообще не продаем им подписку на месяц. Мы продаем им статус «Пакета» ровно на</a:t>
            </a: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одну текущую покупку</a:t>
            </a: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прямо на кассе за условные 9–15 рублей.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 это может выглядеть на практике: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Пенсионер приходит на кассу с большой корзиной продуктов (на 1500 рублей).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Кассир сканирует товары и видит, что если применить условия «Пакета», скидка или </a:t>
            </a:r>
            <a:r>
              <a:rPr lang="ru-RU" sz="1400" dirty="0" err="1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кэшбэк</a:t>
            </a: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составит 150 рублей.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Кассир видит на кассовом аппарате сообщение о скидке и предлагает: </a:t>
            </a:r>
            <a:r>
              <a:rPr lang="ru-RU" sz="1400" i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«У вас тут товаров на большую скидку. Добавим "Разовый Пакет" за 15 рублей, чтобы прямо сейчас сбросить 150 рублей с чека?»</a:t>
            </a:r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Покупатель соглашается. Кассир пробивает штрихкод «Разового Пакета» (как обычный товар)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ru-RU" sz="1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Покупатель платит наличными или картой, получает мгновенную выгоду здесь и сейчас. </a:t>
            </a:r>
          </a:p>
          <a:p>
            <a:pPr marL="0" lvl="0" indent="0">
              <a:lnSpc>
                <a:spcPct val="115000"/>
              </a:lnSpc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550198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</TotalTime>
  <Words>951</Words>
  <Application>Microsoft Office PowerPoint</Application>
  <PresentationFormat>Широкоэкранный</PresentationFormat>
  <Paragraphs>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Cambria</vt:lpstr>
      <vt:lpstr>Century Gothic</vt:lpstr>
      <vt:lpstr>Courier New</vt:lpstr>
      <vt:lpstr>Symbol</vt:lpstr>
      <vt:lpstr>Times New Roman</vt:lpstr>
      <vt:lpstr>Wingdings 3</vt:lpstr>
      <vt:lpstr>Сектор</vt:lpstr>
      <vt:lpstr>привлечение аудитории 50+ </vt:lpstr>
      <vt:lpstr>Особенности взаимодействия поколения 50+ с цифровыми сервисами </vt:lpstr>
      <vt:lpstr>Потребительское поведение аудитории 50+ </vt:lpstr>
      <vt:lpstr>Основные проблемы при подключении </vt:lpstr>
      <vt:lpstr>Практика конкурентов </vt:lpstr>
      <vt:lpstr>Решения 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Корепанов</dc:creator>
  <cp:lastModifiedBy>Иван Корепанов</cp:lastModifiedBy>
  <cp:revision>4</cp:revision>
  <dcterms:created xsi:type="dcterms:W3CDTF">2026-04-20T14:44:57Z</dcterms:created>
  <dcterms:modified xsi:type="dcterms:W3CDTF">2026-04-20T14:57:32Z</dcterms:modified>
</cp:coreProperties>
</file>